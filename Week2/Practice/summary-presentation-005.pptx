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Agentic Transformation (ATX)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Week 2 Deliverables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ED6F1"/>
                </a:solidFill>
              </a:rPr>
              <a:t>Westbridge Family Medicine · Patient Intake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Westbridge Family Medicine  ·  Scenario 5  ·  Week 2 ATX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235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886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Context &amp; 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Practice overview · Discovery interview insights · Key artefacts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46504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01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64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Cognitive Load 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3911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Work streams · JTBDs · Cognitive Zones · Breakpoints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426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Delegation Suitability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1693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Task cluster scoring · Archetype assignments · Automation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02152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570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Volume × Value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Stream positioning · Primary target · Economic thesis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379976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3982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Agent Purpose Document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672584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Meridian PA Orchestrator · KPIs · Autonomy matrix · Escalation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5257800"/>
            <a:ext cx="502920" cy="5669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312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5276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Deployment Roadmap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555040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Phased rollout · Go/No-Go criteria · Risk mitigations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Context &amp; Discovery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Practice: Westbridge Family Medicine · 6 physicians · ~180 patients/day · 2 locations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Discovery interviewee: Dana Velazquez (Practice Manager, RN background, 11 yrs)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Three discovery sessions · Artefacts 5.1 (PA chase list), 5.2 (physician complaint), 5.3 (billing error)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Practice Snapshot &amp; Discovery Highlights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5806440"/>
          </a:xfrm>
          <a:prstGeom prst="rect">
            <a:avLst/>
          </a:prstGeom>
          <a:solidFill>
            <a:srgbClr val="D0EBFF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Practice Profile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📍  US mid-Atlantic suburb, 2 locations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👩‍⚕️  6 physicians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426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👥  ~180 patients/day (573 intake cases)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3009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🖥️  Systems: athenahealth · Availity · DoseSpot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593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📋  PA tracking: Dana's Google Sheet (manual)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⚠️  Current PA miss rate: 0.75–1.0%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52760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💸  Revenue at risk: $1.1M–1.5M / 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777240"/>
            <a:ext cx="5943600" cy="5806440"/>
          </a:xfrm>
          <a:prstGeom prst="rect">
            <a:avLst/>
          </a:prstGeom>
          <a:solidFill>
            <a:srgbClr val="D3F9D8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44"/>
                </a:solidFill>
              </a:rPr>
              <a:t>Key Discovery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38%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9480" y="1371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pre-visit questionnaire completion (only 19% effective engagement)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62%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6948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medication gaps found by Dana's complex case calls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18%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6948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non-English speakers — require phone intake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systematic PA verification at T-0 (root cause: Artefact 5.2)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434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4480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real-time API for Availity PA status — fully manual 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5212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3–5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5257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appointments cancelled/month due to missing PA (Artefact 5.2)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Source: Discovery Interview Responses 005 · Dana Velazquez · Artefacts 5.1–5.3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Cognitive Load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Four work streams decomposed into Jobs to be Done, Cognitive Zones, and Breakpoints.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Grounded in discovery interview data. Documents lived work — not the SOP.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Four Work Streams — Volume &amp; Cognitive Character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5760720"/>
          </a:xfrm>
          <a:prstGeom prst="rect">
            <a:avLst/>
          </a:prstGeom>
          <a:solidFill>
            <a:srgbClr val="D0EBFF"/>
          </a:solidFill>
          <a:ln w="25400">
            <a:solidFill>
              <a:srgbClr val="0B72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5029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Insurance Verification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Volume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18.75 hrs/week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CLM Coverage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3 JTBDs · 7 zones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Cognitive Nature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70% automated · 30% judgment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777240"/>
            <a:ext cx="2788920" cy="5760720"/>
          </a:xfrm>
          <a:prstGeom prst="rect">
            <a:avLst/>
          </a:prstGeom>
          <a:solidFill>
            <a:srgbClr val="FFF3BF"/>
          </a:solidFill>
          <a:ln w="25400">
            <a:solidFill>
              <a:srgbClr val="E67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777240"/>
            <a:ext cx="2788920" cy="502920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8046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 Authorization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14173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700"/>
                </a:solidFill>
              </a:rPr>
              <a:t>Volume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1691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25/day · 8.75 hrs/week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700"/>
                </a:solidFill>
              </a:rPr>
              <a:t>CLM Coverage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3 JTBDs · 9 zones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700"/>
                </a:solidFill>
              </a:rPr>
              <a:t>Cognitive Nature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Entirely manual · tribal knowledge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777240"/>
            <a:ext cx="2788920" cy="5760720"/>
          </a:xfrm>
          <a:prstGeom prst="rect">
            <a:avLst/>
          </a:prstGeom>
          <a:solidFill>
            <a:srgbClr val="D3F9D8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777240"/>
            <a:ext cx="2788920" cy="50292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8046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Medication Reconciliation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0216" y="14173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9E44"/>
                </a:solidFill>
              </a:rPr>
              <a:t>Volume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1691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30 hrs/week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9E44"/>
                </a:solidFill>
              </a:rPr>
              <a:t>CLM Coverage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0216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3 JTBDs · 6 zones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9E44"/>
                </a:solidFill>
              </a:rPr>
              <a:t>Cognitive Nature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0216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38% questionnaire · 62% gaps (Dana)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07424" y="777240"/>
            <a:ext cx="2788920" cy="5760720"/>
          </a:xfrm>
          <a:prstGeom prst="rect">
            <a:avLst/>
          </a:prstGeom>
          <a:solidFill>
            <a:srgbClr val="FFE0E0"/>
          </a:solidFill>
          <a:ln w="25400">
            <a:solidFill>
              <a:srgbClr val="C9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07424" y="777240"/>
            <a:ext cx="2788920" cy="50292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98864" y="8046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Visit-Reason Triage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44584" y="14173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2A2A"/>
                </a:solidFill>
              </a:rPr>
              <a:t>Volume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44584" y="1691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20 hrs/week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44584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2A2A"/>
                </a:solidFill>
              </a:rPr>
              <a:t>CLM Coverage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44584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2 JTBDs · 4 zones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44584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2A2A"/>
                </a:solidFill>
              </a:rPr>
              <a:t>Cognitive Nature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44584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Mostly human · emergency signals critical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CLM v2.0 · 9 detailed JTBDs · 13 Cognitive Zones · 15 Breakpoints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Lived vs. Documented — Where Real Work Differs From the SOP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560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Stream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777240"/>
            <a:ext cx="32004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795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SOP Says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777240"/>
            <a:ext cx="59436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795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Lived Reality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11704320" cy="12344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Insurance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325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"Verify at check-in. Flag if fails."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Verification happens at multiple points (scheduling, day-before, arrival). 30% of cases have data mismatches requiring judgment. Medicaid data lags 24–48h.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11704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Prior Authorization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"System auto-triggers PA request on physician order."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PA submission is 100% manual. Dana tracks in Google Sheet. No systematic T-0 check. If Dana is sick, tracking stops entirely.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11704320" cy="12344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77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Medication Reconciliation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977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"Patient questionnaire + DoseSpot auto-check."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9776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Only 38% questionnaire completion. DoseSpot misses OTC, stopped meds, specialist scripts. Dana finds gaps in 62% of complex calls.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5212080"/>
            <a:ext cx="11704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303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Visit-Reason Triage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303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"Scheduler confirms reason. Front desk adjusts."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530352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Reasons are often vague. Acute issues hide under 'routine visit'. Procedure prep not always confirmed. Triage is ad-hoc.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CLM v2.0 · Section 1: Lived vs. Documented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Critical Breakpoints — Where Control Handoffs Occur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95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Breakpoint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777240"/>
            <a:ext cx="1737360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3552" y="7955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From → 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777240"/>
            <a:ext cx="3017520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795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if Missed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777240"/>
            <a:ext cx="3749040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795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Agentic Opportunity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11704320" cy="79552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52728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Coverage Mismatch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252728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System → Front Desk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252728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Billing error; stale Availity vs. recent card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1252728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Agent flags mismatch with data age; human decides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75688"/>
            <a:ext cx="117043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9696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PA Missing at T-0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139696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System → Dana + Front Desk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139696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Appointment cancelled — Artefact 5.2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2139696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Agent mandatory T-0 check; alerts before rooming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11704320" cy="79552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26664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PA Denied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26664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Insurer → Dana + Physician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026664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Revenue loss; patient access delayed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3026664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Agent retrieves denial reason; Dana decides 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49624"/>
            <a:ext cx="117043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13632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PA Pending &lt; 48h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913632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System → Dana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913632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No time to resolve; last-minute cancel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3913632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Agent auto-escalates; Dana decides chase or reschedule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36592"/>
            <a:ext cx="11704320" cy="79552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00600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Drug Interaction Flag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800600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DoseSpot → Physician/Nurse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800600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Patient harm if missed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Agent consolidates alerts; physician reviews pre-visit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5623560"/>
            <a:ext cx="117043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687568"/>
            <a:ext cx="2697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3A5C"/>
                </a:solidFill>
              </a:rPr>
              <a:t>Urgent Signal at Intake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5687568"/>
            <a:ext cx="1600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Patient → Physician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5687568"/>
            <a:ext cx="2880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2A2A"/>
                </a:solidFill>
              </a:rPr>
              <a:t>Missed emergency → patient harm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5687568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F9E44"/>
                </a:solidFill>
              </a:rPr>
              <a:t>HUMAN ONLY — must stay with clinical staff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CLM v2.0 · 15 Breakpoints identified across all 4 work streams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Delegation Suitability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16 task clusters scored on Volume · Structurability · Expertise · Reversibility.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Each cluster assigned to one of 5 delegation archetypes with explicit justification.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Overall: 70% of 573 intake cases/day automatable with human guardrails.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Delegation Suitability — Stream Scorecard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176272" cy="347472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FULLY_AGENTIC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06040" y="804672"/>
            <a:ext cx="2176272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82296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AGENT_LED_OVERSIGHT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0" y="804672"/>
            <a:ext cx="2176272" cy="347472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82296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HUMAN_LED_AGENT_SUPPORT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269480" y="804672"/>
            <a:ext cx="2176272" cy="347472"/>
          </a:xfrm>
          <a:prstGeom prst="rect">
            <a:avLst/>
          </a:prstGeom>
          <a:solidFill>
            <a:srgbClr val="7950F2"/>
          </a:solidFill>
          <a:ln w="12700">
            <a:solidFill>
              <a:srgbClr val="795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82296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HUMAN_LED_AUTO_SUPPORT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0" y="804672"/>
            <a:ext cx="2176272" cy="347472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82296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HUMAN_ONLY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207008"/>
            <a:ext cx="14630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225296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1207008"/>
            <a:ext cx="315468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1225296"/>
            <a:ext cx="308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Cluster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74920" y="1207008"/>
            <a:ext cx="594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225296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207008"/>
            <a:ext cx="594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225296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Struct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1207008"/>
            <a:ext cx="594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225296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207008"/>
            <a:ext cx="594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225296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63840" y="1207008"/>
            <a:ext cx="41148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1225296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Archetype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1536192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591056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Insurance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74520" y="1591056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Availity Query Execution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159105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159105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159105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159105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09560" y="1581912"/>
            <a:ext cx="4023360" cy="237744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160020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FULLY_AGENTIC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1883664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93852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Insurance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74520" y="1938528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Data Mismatch Resolution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20640" y="193852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06440" y="193852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193852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193852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09560" y="1929384"/>
            <a:ext cx="4023360" cy="237744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194767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HUMAN_LED_AGENT_SUPPORT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2231136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Insurance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74520" y="228600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Coverage Freshness Check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20640" y="228600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228600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228600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78040" y="228600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09560" y="2276856"/>
            <a:ext cx="4023360" cy="23774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36992" y="2295144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AGENT_LED_OVERSIGHT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2578608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63347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Insurance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874520" y="2633472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Copay Collection + Documentation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20640" y="263347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06440" y="263347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92240" y="263347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178040" y="263347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09560" y="2624328"/>
            <a:ext cx="4023360" cy="237744"/>
          </a:xfrm>
          <a:prstGeom prst="rect">
            <a:avLst/>
          </a:prstGeom>
          <a:solidFill>
            <a:srgbClr val="7950F2"/>
          </a:solidFill>
          <a:ln w="12700">
            <a:solidFill>
              <a:srgbClr val="7950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36992" y="2642616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HUMAN_LED_AUTO_SUPPORT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2926080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298094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Prior Auth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874520" y="2980944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PA Requirement Detection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20640" y="298094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06440" y="298094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4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298094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178040" y="298094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909560" y="2971800"/>
            <a:ext cx="4023360" cy="237744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36992" y="2990088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HUMAN_LED_AGENT_SUPPORT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3273552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328416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Prior Auth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874520" y="3328416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PA Info Gathering &amp; Submission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120640" y="332841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806440" y="332841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492240" y="332841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178040" y="332841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5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909560" y="3319272"/>
            <a:ext cx="4023360" cy="237744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36992" y="333756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HUMAN_LED_AGENT_SUPPORT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74320" y="3621024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367588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Prior Auth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874520" y="3675888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PA Track &amp; Chase ⭐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120640" y="367588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806440" y="367588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492240" y="367588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178040" y="367588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909560" y="3666744"/>
            <a:ext cx="4023360" cy="23774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36992" y="368503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AGENT_LED_OVERSIGHT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74320" y="3968496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40233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Prior Auth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1874520" y="402336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T-0 PA Verification 🔴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120640" y="402336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806440" y="402336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492240" y="402336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178040" y="402336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909560" y="4014216"/>
            <a:ext cx="4023360" cy="23774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36992" y="4032504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AGENT_LED_OVERSIGHT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74320" y="4315968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040" y="43708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Prior Auth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1874520" y="4370832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PA Denial Handling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120640" y="437083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5806440" y="437083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6492240" y="437083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7178040" y="437083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909560" y="4361688"/>
            <a:ext cx="4023360" cy="237744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36992" y="4379976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HUMAN_ONLY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274320" y="4663440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471830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Med Recon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1874520" y="4718304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Questionnaire + SMS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5120640" y="471830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806440" y="471830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6492240" y="471830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7178040" y="4718304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7909560" y="4709160"/>
            <a:ext cx="4023360" cy="23774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936992" y="4727448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AGENT_LED_OVERSIGHT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74320" y="5010912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20040" y="5065776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Med Recon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1874520" y="5065776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DoseSpot Reconciliation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5120640" y="506577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5806440" y="506577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6492240" y="506577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4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7178040" y="5065776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7909560" y="5056632"/>
            <a:ext cx="4023360" cy="237744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936992" y="507492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HUMAN_LED_AGENT_SUPPORT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74320" y="5358384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20040" y="541324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Med Recon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1874520" y="5413248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Allergy Verification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5120640" y="541324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5806440" y="541324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5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6492240" y="541324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7178040" y="5413248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7909560" y="5404104"/>
            <a:ext cx="4023360" cy="237744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936992" y="542239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HUMAN_ONLY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274320" y="5705856"/>
            <a:ext cx="1170432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20040" y="576072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Triage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874520" y="576072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Urgency Signal Detection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5120640" y="576072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5806440" y="576072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6492240" y="576072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7178040" y="5760720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7909560" y="5751576"/>
            <a:ext cx="4023360" cy="237744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936992" y="5769864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HUMAN_ONLY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274320" y="6053328"/>
            <a:ext cx="1170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20040" y="6108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285"/>
                </a:solidFill>
              </a:rPr>
              <a:t>Triage</a:t>
            </a:r>
            <a:endParaRPr lang="en-US" sz="950" dirty="0"/>
          </a:p>
        </p:txBody>
      </p:sp>
      <p:sp>
        <p:nvSpPr>
          <p:cNvPr id="147" name="Text 145"/>
          <p:cNvSpPr/>
          <p:nvPr/>
        </p:nvSpPr>
        <p:spPr>
          <a:xfrm>
            <a:off x="1874520" y="6108192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Procedure Prep Confirmation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5120640" y="610819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5806440" y="610819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6492240" y="610819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151" name="Text 149"/>
          <p:cNvSpPr/>
          <p:nvPr/>
        </p:nvSpPr>
        <p:spPr>
          <a:xfrm>
            <a:off x="7178040" y="6108192"/>
            <a:ext cx="521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7909560" y="6099048"/>
            <a:ext cx="4023360" cy="237744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936992" y="6117336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HUMAN_LED_AGENT_SUPPORT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DSM v1.0 · Vol/Struct/Exp/Rev scored 1–10 · 14 task clusters assessed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Delegation Archetype Distribution &amp; Key Boundaries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005840" cy="9144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clusters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</a:rPr>
              <a:t>FULLY_AGENTIC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26187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Query execution, pre-population, 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1005840" cy="9144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65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2395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clusters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002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</a:rPr>
              <a:t>AGENT_LED_OVERSIGHT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PA chase, T-0 verification, freshness check, SMS reminders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1005840" cy="914400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358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34655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clusters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072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700"/>
                </a:solidFill>
              </a:rPr>
              <a:t>HUMAN_LED_AGENT_SUPPORT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4015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Data mismatch, PA submission, DoseSpot recon, prep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32504"/>
            <a:ext cx="1005840" cy="914400"/>
          </a:xfrm>
          <a:prstGeom prst="rect">
            <a:avLst/>
          </a:prstGeom>
          <a:solidFill>
            <a:srgbClr val="7950F2"/>
          </a:solidFill>
          <a:ln w="12700">
            <a:solidFill>
              <a:srgbClr val="795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056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" y="45354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clusters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142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50F2"/>
                </a:solidFill>
              </a:rPr>
              <a:t>HUMAN_LED_AUTO_SUPPORT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47141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Copay collection (soft skill)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5102352"/>
            <a:ext cx="1005840" cy="91440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17550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432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clusters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2A2A"/>
                </a:solidFill>
              </a:rPr>
              <a:t>HUMAN_ONLY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554126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Allergy verification, urgent signals, PA denial handling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804672"/>
            <a:ext cx="4343400" cy="5806440"/>
          </a:xfrm>
          <a:prstGeom prst="rect">
            <a:avLst/>
          </a:prstGeom>
          <a:solidFill>
            <a:srgbClr val="FFF5F5"/>
          </a:solidFill>
          <a:ln w="19050">
            <a:solidFill>
              <a:srgbClr val="C9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2A2A"/>
                </a:solidFill>
              </a:rPr>
              <a:t>⛔  HUMAN_ONLY — Hard Boundaries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13716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• Allergy data clearance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(irreversible if wrong → anaphylaxis risk)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26680" y="235915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• Urgent/acute signal detection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(missed emergency → patient harm)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334670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• PA denial handling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(medical necessity judgment + appeals)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433425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• Patient rescheduling decisions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(Dana authority; requires patient communication)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26680" y="53218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• Clinical prescription decisions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(physician authority only)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DSM v1.0 · 70% of intake work is automatable with human guardrails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Volume × Value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All four work streams plotted on Volume (throughput) and Value (revenue/risk impact) axes.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Primary target: Prior Authorization — highest friction, codifiable rules, $340K–515K at risk.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Volume × Value Positioning — Four Work Streams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⟵  VOLUME  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1828800"/>
            <a:ext cx="548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⟵  VALUE  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5303520" cy="2788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503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AAAA"/>
                </a:solidFill>
              </a:rPr>
              <a:t>HIGH VALUE / LOW VOLUME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26480" y="777240"/>
            <a:ext cx="5760720" cy="27889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503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AAAA"/>
                </a:solidFill>
              </a:rPr>
              <a:t>HIGH VALUE / HIGH VOLUME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5303520" cy="2788920"/>
          </a:xfrm>
          <a:prstGeom prst="rect">
            <a:avLst/>
          </a:prstGeom>
          <a:solidFill>
            <a:srgbClr val="F1F3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85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AAAA"/>
                </a:solidFill>
              </a:rPr>
              <a:t>LOW VALUE / LOW VOLUME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3611880"/>
            <a:ext cx="5760720" cy="278892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850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AAAA"/>
                </a:solidFill>
              </a:rPr>
              <a:t>MEDIUM VALUE / HIGH VOLUME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0" y="100584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25400">
            <a:solidFill>
              <a:srgbClr val="E67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700"/>
                </a:solidFill>
              </a:rPr>
              <a:t>⭐ Prior 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25/day · $340K–515K at risk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PRIMARY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4389120" cy="219456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25400">
            <a:solidFill>
              <a:srgbClr val="0B72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Insurance 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1691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$190K–260K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SECONDARY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794760"/>
            <a:ext cx="4389120" cy="219456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4023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Medication Recon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4805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$150K–250K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LOWER PRIORITY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379476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25400">
            <a:solidFill>
              <a:srgbClr val="C9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A2A"/>
                </a:solidFill>
              </a:rPr>
              <a:t>Visit Triage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83080" y="4480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180/day · $75K–150K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HUMAN-CONSTRAINED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VVA v1.0 · Total revenue at risk: $1.1M–1.5M/year across all four work streams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Economic Thesis — Prior Authorization (Primary Target)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486400" cy="5806440"/>
          </a:xfrm>
          <a:prstGeom prst="rect">
            <a:avLst/>
          </a:prstGeom>
          <a:solidFill>
            <a:srgbClr val="FFF3BF"/>
          </a:solidFill>
          <a:ln w="19050">
            <a:solidFill>
              <a:srgbClr val="E6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700"/>
                </a:solidFill>
              </a:rPr>
              <a:t>Value At Risk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Annual PA volume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20440" y="13350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6,500 PAs /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Current miss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892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0.75–1.0%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Missed PAs / 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450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33–65 cases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Lost appt revenue / miss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3008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$200 (avg)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Patient churn / cancel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20% don't reschedule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239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Lost lifetime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41239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$3,000 / patient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817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Dana PA chase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4681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8+ hrs / week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2395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Opportunity 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5239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$10K–15K / year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742432"/>
            <a:ext cx="5303520" cy="502920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797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AT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5797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$340K–515K / year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777240"/>
            <a:ext cx="5852160" cy="5806440"/>
          </a:xfrm>
          <a:prstGeom prst="rect">
            <a:avLst/>
          </a:prstGeom>
          <a:solidFill>
            <a:srgbClr val="D3F9D8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8961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44"/>
                </a:solidFill>
              </a:rPr>
              <a:t>After Automation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1371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PA miss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0.75–1.0% → &lt;0.1%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09960" y="137160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87% reduction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9842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Missed PAs / year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35440" y="1984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33–65 → &lt;6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09960" y="19842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59+ fewer misses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5968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Revenue captured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25968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$295K–460K / year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09960" y="25968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3209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Dana's time freed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35440" y="32095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8+ hrs → 2–3 hrs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09960" y="32095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5–6 hrs / week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Cancelled appts prevented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35440" y="3822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3–5 / month → &lt;1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09960" y="382219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4434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Patient churn prevented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35440" y="4434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~11 patients / year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09960" y="44348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50474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Implementation cost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35440" y="5047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~$75K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09960" y="50474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9E44"/>
                </a:solidFill>
              </a:rPr>
              <a:t>One-time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5605272"/>
            <a:ext cx="5669280" cy="530352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56601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Payback period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235440" y="5660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1–2 months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109960" y="56601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🏆 FASTEST ROI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VVA v1.0 · Economic Thesis · Development cost ~$75K · Payback ~1–2 months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 Purpose Document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Agent Name: Meridian PA Orchestrator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Job to be Done: Systematically manage PA lifecycle from detection through T-0 approval verification.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Archetype: AGENT_LED_OVERSIGHT · Estimated value: $295K–460K/year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Meridian PA Orchestrator — Agent Purpose at a Glance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1704320" cy="1188720"/>
          </a:xfrm>
          <a:prstGeom prst="rect">
            <a:avLst/>
          </a:prstGeom>
          <a:solidFill>
            <a:srgbClr val="FFF3BF"/>
          </a:solidFill>
          <a:ln w="19050">
            <a:solidFill>
              <a:srgbClr val="E6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700"/>
                </a:solidFill>
              </a:rPr>
              <a:t>Job to be Done (Cognitive Contract)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1A2E"/>
                </a:solidFill>
              </a:rPr>
              <a:t>Detect when a scheduled service requires PA · Gather required info · Submit after human review · Track with insurer-specific SLA rules · Chase pending PAs on schedule · Verify status at T-0 before rooming · Escalate exceptions with context and recommended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3794760" cy="4526280"/>
          </a:xfrm>
          <a:prstGeom prst="rect">
            <a:avLst/>
          </a:prstGeom>
          <a:solidFill>
            <a:srgbClr val="F4F4F4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57400"/>
            <a:ext cx="3794760" cy="38404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DECIDES Alone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PA is required? (YES/NO/CONDITIONAL)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278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Expected approval date (SLA-based)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92277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Chase date calculation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617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PA status 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531266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Escalation urgency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057400"/>
            <a:ext cx="3794760" cy="4526280"/>
          </a:xfrm>
          <a:prstGeom prst="rect">
            <a:avLst/>
          </a:prstGeom>
          <a:solidFill>
            <a:srgbClr val="F4F4F4"/>
          </a:solidFill>
          <a:ln w="19050">
            <a:solidFill>
              <a:srgbClr val="E67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057400"/>
            <a:ext cx="3794760" cy="384048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075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PROPOSES · Human Approves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5328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PA submission completeness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2278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Submission channel + format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92277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T-0 verification checklist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617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Denial reason classification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531266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Resubmission recommendation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2057400"/>
            <a:ext cx="3794760" cy="4526280"/>
          </a:xfrm>
          <a:prstGeom prst="rect">
            <a:avLst/>
          </a:prstGeom>
          <a:solidFill>
            <a:srgbClr val="F4F4F4"/>
          </a:solidFill>
          <a:ln w="19050">
            <a:solidFill>
              <a:srgbClr val="C9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2057400"/>
            <a:ext cx="3794760" cy="384048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075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 DECIDES (Always)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5328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Approve submission before sending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32278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Emergency chase vs. reschedule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392277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Appeal a denial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4617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Patient rescheduling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531266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• Clinical justification on appeal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APD v1.0 · Delegation Archetype: AGENT_LED_OVERSIGHT · Hard constraint: Dana retains final authority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Meridian PA Orchestrator — Key Performance Indicators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33832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749040" y="795528"/>
            <a:ext cx="26517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2192" y="813816"/>
            <a:ext cx="2560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0" y="795528"/>
            <a:ext cx="27432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81381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0" y="795528"/>
            <a:ext cx="26517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00032" y="813816"/>
            <a:ext cx="2560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Δ Impact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70432"/>
            <a:ext cx="11704320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618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PA Miss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261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0.75–1.0%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&lt;0.1%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18320" y="1261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87% reduction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1704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47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Chase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18470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~90%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1847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100%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18320" y="18470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Systematic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11704320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32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T-0 Verification Coverage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4323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0% (ad-hoc)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24323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100%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0" y="24323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Non-negotiable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11704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PA Submission Denial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TBD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&lt;2%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1832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285"/>
                </a:solidFill>
              </a:rPr>
              <a:t>Completeness gate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511296"/>
            <a:ext cx="11704320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0273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Dana Time on PA Chase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6027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8+ hrs/wk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6027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2–3 hrs/wk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18320" y="36027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285"/>
                </a:solidFill>
              </a:rPr>
              <a:t>5–6 hrs freed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096512"/>
            <a:ext cx="11704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1879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Appt Cancellations (PA)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187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3–5/month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41879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&lt;1/month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18320" y="4187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~80% reduction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681728"/>
            <a:ext cx="11704320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731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Revenue Impact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40480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$295K–460K lost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83680" y="47731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&lt;$30K/yr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418320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87% captured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5266944"/>
            <a:ext cx="11704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53583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Agent Uptime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0" y="5358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N/A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83680" y="53583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&gt;99%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418320" y="5358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285"/>
                </a:solidFill>
              </a:rPr>
              <a:t>SLA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5852160"/>
            <a:ext cx="11704320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5943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Dana Adoption Rate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5943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N/A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83680" y="59436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≥95%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418320" y="5943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Pilot success gate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APD v1.0 · Part 4: KPIs — all targets specific &amp; measurable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Meridian PA Orchestrator — Escalation Triggers &amp; Routing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67665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6675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Escalation Condition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795528"/>
            <a:ext cx="27432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5472" y="81381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 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0" y="795528"/>
            <a:ext cx="1920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8138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Urgency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11704320" cy="61264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requirement uncertain (confidence &lt;80%)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1261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04120" y="1298448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04120" y="13167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19656"/>
            <a:ext cx="117043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11096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information incomplete before submission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0" y="1911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 / Physician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04120" y="1947672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04120" y="19659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11704320" cy="61264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6032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status PENDING at T-2 (2 days before)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0" y="25603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04120" y="2596896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26151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118104"/>
            <a:ext cx="117043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0954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status PENDING at T-1 (1 day before)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32095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04120" y="32461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4120" y="32644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URGENT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767328"/>
            <a:ext cx="11704320" cy="61264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5876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status DENIED — denial reason received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23760" y="38587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 + Physician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04120" y="3895344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391363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416552"/>
            <a:ext cx="117043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0799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status MISSING at T-0 appointment morning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0" y="45079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 + Front Desk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04120" y="4544568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04120" y="45628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EMERGENCY 🔴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5065776"/>
            <a:ext cx="11704320" cy="612648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5157216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 status PENDING at T-0 appointment morning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23760" y="51572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104120" y="5193792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04120" y="521208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EMERGENCY 🔴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5715000"/>
            <a:ext cx="117043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580644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Availity down — agent can't query status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23760" y="58064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Dana (manual)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04120" y="5843016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04120" y="58613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APD v1.0 · Part 7: Escalation Triggers — specific conditions, not 'escalate if unsure'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06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Three-phase rollout over 10+ weeks.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Phase 1 (PA chase + T-0 + complex triage) has fastest ROI (1–2 month payback).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7FA"/>
                </a:solidFill>
              </a:rPr>
              <a:t>Pilot at Location 1 Weeks 6–7 · Full deployment Location 2 Week 8.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 Roadmap — Phased Rollout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94760" cy="5806440"/>
          </a:xfrm>
          <a:prstGeom prst="rect">
            <a:avLst/>
          </a:prstGeom>
          <a:solidFill>
            <a:srgbClr val="F0F8FF"/>
          </a:solidFill>
          <a:ln w="25400">
            <a:solidFill>
              <a:srgbClr val="E67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794760" cy="594360"/>
          </a:xfrm>
          <a:prstGeom prst="rect">
            <a:avLst/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EEEE"/>
                </a:solidFill>
              </a:rPr>
              <a:t>Weeks 1–6 → Pilot W6–7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PA requirement rule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PA info gathering + submission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6090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PA tracking + chase (insurer SLAs)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3697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T-0 PA verification checklist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130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Complex case triage to Dana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983480"/>
            <a:ext cx="361188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29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700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5321808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$295K–460K captured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5–6 hrs/week freed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87% miss rate reduction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777240"/>
            <a:ext cx="3794760" cy="5806440"/>
          </a:xfrm>
          <a:prstGeom prst="rect">
            <a:avLst/>
          </a:prstGeom>
          <a:solidFill>
            <a:srgbClr val="F0F8FF"/>
          </a:solidFill>
          <a:ln w="25400">
            <a:solidFill>
              <a:srgbClr val="0B72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777240"/>
            <a:ext cx="3794760" cy="5943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804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932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EEEE"/>
                </a:solidFill>
              </a:rPr>
              <a:t>Weeks 3–8 → Full W8–9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1508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Availity query execution (180/day)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0848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Data mismatch flagging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266090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Coverage freshness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23697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Copay documentation automation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38130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DoseSpot reconciliation flagging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983480"/>
            <a:ext cx="361188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5029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5321808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$180K–320K captured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~10 hrs/week freed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84% billing error reduction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777240"/>
            <a:ext cx="3794760" cy="5806440"/>
          </a:xfrm>
          <a:prstGeom prst="rect">
            <a:avLst/>
          </a:prstGeom>
          <a:solidFill>
            <a:srgbClr val="F0F8FF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777240"/>
            <a:ext cx="3794760" cy="59436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804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932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EEEE"/>
                </a:solidFill>
              </a:rPr>
              <a:t>Weeks 5+ → W10+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66760" y="1508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Pre-visit questionnaire + SMS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20848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Procedure prep retrieval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266090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Visit classification support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323697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Pre-visit summary generation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66760" y="38130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✓  Analytics + KPI dashboard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21040" y="4983480"/>
            <a:ext cx="361188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5029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9E44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5321808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Operational efficiency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~6–8 hrs/week freed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Patient safety improvement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VVA v1.0 · APD v1.0 · Deployment Phases 1–3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Go / No-Go Criteria — Week 7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</a:rPr>
              <a:t>All 8 criteria must be met at or above threshold for full deployment to Location 2 (Week 8). Two or more failures OR any PHI breach = extended pilot or redesign.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4805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89888"/>
            <a:ext cx="4389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 Gate (Metric)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22860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38988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 Threshold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0" y="1371600"/>
            <a:ext cx="256032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2" y="1389888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if Not Met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875520" y="1371600"/>
            <a:ext cx="210312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48672" y="1389888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 (Post-Pilot)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46504"/>
            <a:ext cx="11704320" cy="50292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T-0 Verification Coverage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≥95%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182880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Artefact 5.2 recurrence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0" y="182880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95144"/>
            <a:ext cx="11704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7744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PA Miss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&lt;0.5%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0" y="237744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Revenue loss continues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0" y="237744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843784"/>
            <a:ext cx="11704320" cy="50292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2608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Chase Success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≥98%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292608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Misses remain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66960" y="292608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392424"/>
            <a:ext cx="11704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7472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Dana Adoption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47472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≥90%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47472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Manual fallback persists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66960" y="347472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941064"/>
            <a:ext cx="11704320" cy="50292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2336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Front Desk Adoption (T-0)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02336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≥85%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402336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T-0 checklist skipped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966960" y="402336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489704"/>
            <a:ext cx="11704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7200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System Uptime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57200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&gt;99%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0" y="457200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Service disruption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966960" y="457200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5038344"/>
            <a:ext cx="11704320" cy="502920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512064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Stakeholder Satisfaction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512064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≥7/10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512064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Trust not established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966960" y="512064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5586984"/>
            <a:ext cx="11704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669280"/>
            <a:ext cx="4343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PHI Breaches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37760" y="566928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9E44"/>
                </a:solidFill>
              </a:rPr>
              <a:t>Zero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315200" y="566928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Legal / HIPAA liability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966960" y="566928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7700"/>
                </a:solidFill>
              </a:rPr>
              <a:t>⏳ TBD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APD v1.0 · Part 15: Go/No-Go Criteria · Pilot evaluation at end of Week 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Risks &amp; Mitigations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29718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880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795528"/>
            <a:ext cx="11430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81381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795528"/>
            <a:ext cx="1920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8138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795528"/>
            <a:ext cx="53949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813816"/>
            <a:ext cx="5303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70432"/>
            <a:ext cx="11704320" cy="850392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6187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700"/>
                </a:solidFill>
              </a:rPr>
              <a:t>Availity API unreliable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898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2618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PA chase blocked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6187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Fallback: manual polling via Availity web portal or phone; escalate to Dana if &gt;3h downtime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75688"/>
            <a:ext cx="11704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67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</a:rPr>
              <a:t>Insurer SLA rules change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276856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2951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1671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Chase timing inaccurate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167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Quarterly SLA audit; maintain flexible rule engine; monitor for denial-rate spike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80944"/>
            <a:ext cx="11704320" cy="850392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723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700"/>
                </a:solidFill>
              </a:rPr>
              <a:t>Front desk doesn't check T-0 list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182112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00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07238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T-0 gate bypassed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307238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Training + accountability; daily 8 AM reminder email; weekly compliance report to Dana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11704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77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</a:rPr>
              <a:t>DoseSpot coverage stays at 38%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087368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41056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977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Med gaps remain high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977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Document limitation; rely on complex case triage to Dana; do not claim DoseSpot is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91456"/>
            <a:ext cx="11704320" cy="850392"/>
          </a:xfrm>
          <a:prstGeom prst="rect">
            <a:avLst/>
          </a:prstGeom>
          <a:solidFill>
            <a:srgbClr val="F1F3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8289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700"/>
                </a:solidFill>
              </a:rPr>
              <a:t>Integration complexity higher than estimated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4992624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67700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5010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488289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Phase 1 delayed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488289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Parallel design + dev; reduce scope if needed (defer T-0 verification to Phase 2)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5696712"/>
            <a:ext cx="11704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78815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2A2A"/>
                </a:solidFill>
              </a:rPr>
              <a:t>PHI data breach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83280" y="589788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59161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57881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HIPAA liability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57881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Comprehensive audit logging; encryption in transit + at rest; vendor BAAs; compliance review Week 1–2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APD v1.0 · Part 14: Risk Management &amp; Contingencies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Summary &amp;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6766560" cy="713232"/>
          </a:xfrm>
          <a:prstGeom prst="rect">
            <a:avLst/>
          </a:prstGeom>
          <a:solidFill>
            <a:srgbClr val="D3F9D8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CLM v2.0 — 9 JTBDs, 13 zones, 15 breakpoints; discovery-validated lived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6766560" cy="713232"/>
          </a:xfrm>
          <a:prstGeom prst="rect">
            <a:avLst/>
          </a:prstGeom>
          <a:solidFill>
            <a:srgbClr val="D3F9D8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DSM v1.0 — 14 task clusters; 70% automatable; no cluster defaults to fully agentic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6766560" cy="713232"/>
          </a:xfrm>
          <a:prstGeom prst="rect">
            <a:avLst/>
          </a:prstGeom>
          <a:solidFill>
            <a:srgbClr val="D3F9D8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VVA v1.0 — Prior Auth is primary target; $340K–515K at risk; 1–2 month payback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6766560" cy="713232"/>
          </a:xfrm>
          <a:prstGeom prst="rect">
            <a:avLst/>
          </a:prstGeom>
          <a:solidFill>
            <a:srgbClr val="D3F9D8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10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APD v1.0 — Meridian PA Orchestrator; specific KPIs, explicit autonomy matrix, named escalation 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6766560" cy="713232"/>
          </a:xfrm>
          <a:prstGeom prst="rect">
            <a:avLst/>
          </a:prstGeom>
          <a:solidFill>
            <a:srgbClr val="FFEEEE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33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T-0 PA verification is NON-NEGOTIABLE — prevents 3–5 appointment cancellations/month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937760"/>
            <a:ext cx="6766560" cy="713232"/>
          </a:xfrm>
          <a:prstGeom prst="rect">
            <a:avLst/>
          </a:prstGeom>
          <a:solidFill>
            <a:srgbClr val="FFF3BF"/>
          </a:solidFill>
          <a:ln w="12700">
            <a:solidFill>
              <a:srgbClr val="E6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56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Core insight: Prior Auth is Dana's Google Sheet waiting to be systematised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804672"/>
            <a:ext cx="4572000" cy="5806440"/>
          </a:xfrm>
          <a:prstGeom prst="rect">
            <a:avLst/>
          </a:prstGeom>
          <a:solidFill>
            <a:srgbClr val="D0EB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8961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52360" y="1353312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371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1–2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49640" y="1371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Verify Availity API · Confirm insurer SLA rules with Dana · BAA compliance review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52360" y="2075688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0939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2–3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49640" y="209397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Credential vault setup · athenahealth API sandbox test · PA rule engine build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52360" y="2798064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28163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3–4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49640" y="2816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PA tracking system build · Chase scheduler · T-0 checklist prototype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3520440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3538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49640" y="35387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Front desk training · Dana training on agent workflows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52360" y="4242816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2611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6–7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49640" y="426110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Pilot deployment (Location 1) · Monitor KPIs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52360" y="4965192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4983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49640" y="4983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Go/No-Go decision · Full deployment (Location 2)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52360" y="5687568"/>
            <a:ext cx="10058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57058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7+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49640" y="57058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Analytics dashboard · Quarterly insurer SLA review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Scenario 5 · Week 2 ATX Deliverables · All documents available in /Week2/Scenario5/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Westbridge Family Medicine — ATX Summary</dc:title>
  <dc:subject>PptxGenJS Presentation</dc:subject>
  <dc:creator>FDE Program — Week 2 ATX</dc:creator>
  <cp:lastModifiedBy>FDE Program — Week 2 ATX</cp:lastModifiedBy>
  <cp:revision>1</cp:revision>
  <dcterms:created xsi:type="dcterms:W3CDTF">2026-04-30T11:18:11Z</dcterms:created>
  <dcterms:modified xsi:type="dcterms:W3CDTF">2026-04-30T11:18:11Z</dcterms:modified>
</cp:coreProperties>
</file>