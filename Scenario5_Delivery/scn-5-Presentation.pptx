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package/2006/relationships/metadata/extended-properties" Target="docProps/app0.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7" r:id="rId2"/>
    <p:sldId id="258" r:id="rId3"/>
    <p:sldId id="259" r:id="rId4"/>
    <p:sldId id="260" r:id="rId5"/>
    <p:sldId id="261" r:id="rId6"/>
    <p:sldId id="262" r:id="rId7"/>
    <p:sldId id="263" r:id="rId8"/>
    <p:sldId id="264" r:id="rId9"/>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3" autoAdjust="0"/>
    <p:restoredTop sz="94694" autoAdjust="0"/>
  </p:normalViewPr>
  <p:slideViewPr>
    <p:cSldViewPr snapToGrid="0" snapToObjects="1">
      <p:cViewPr varScale="1">
        <p:scale>
          <a:sx n="138" d="100"/>
          <a:sy n="138" d="100"/>
        </p:scale>
        <p:origin x="834" y="120"/>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4/21/2026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4/21/2026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4/21/2026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241EB5C9-1307-BA42-ABA2-0BC069CD8E7F}" type="datetimeFigureOut">
              <a:rPr lang="en-US" smtClean="0"/>
              <a:t>4/21/2026</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342900" indent="-342900" algn="l" defTabSz="342900" rtl="0" eaLnBrk="1" latinLnBrk="0" hangingPunct="1">
        <a:spcBef>
          <a:spcPct val="20000"/>
        </a:spcBef>
        <a:buFont typeface="Arial"/>
        <a:buChar char="•"/>
        <a:defRPr sz="2400" kern="1200">
          <a:solidFill>
            <a:schemeClr val="tx1"/>
          </a:solidFill>
          <a:latin typeface="+mn-lt"/>
          <a:ea typeface="+mn-ea"/>
          <a:cs typeface="+mn-cs"/>
        </a:defRPr>
      </a:lvl1pPr>
      <a:lvl2pPr marL="685800" indent="-342900" algn="l" defTabSz="342900" rtl="0" eaLnBrk="1" latinLnBrk="0" hangingPunct="1">
        <a:spcBef>
          <a:spcPct val="20000"/>
        </a:spcBef>
        <a:buFont typeface="Arial"/>
        <a:buChar char="–"/>
        <a:defRPr sz="2100" kern="1200">
          <a:solidFill>
            <a:schemeClr val="tx1"/>
          </a:solidFill>
          <a:latin typeface="+mn-lt"/>
          <a:ea typeface="+mn-ea"/>
          <a:cs typeface="+mn-cs"/>
        </a:defRPr>
      </a:lvl2pPr>
      <a:lvl3pPr marL="1028700" indent="-34290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371600" indent="-34290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714500" indent="-342900" algn="l" defTabSz="342900" rtl="0" eaLnBrk="1" latinLnBrk="0" hangingPunct="1">
        <a:spcBef>
          <a:spcPct val="20000"/>
        </a:spcBef>
        <a:buFont typeface="Arial"/>
        <a:buChar char="»"/>
        <a:defRPr sz="1500" kern="1200">
          <a:solidFill>
            <a:schemeClr val="tx1"/>
          </a:solidFill>
          <a:latin typeface="+mn-lt"/>
          <a:ea typeface="+mn-ea"/>
          <a:cs typeface="+mn-cs"/>
        </a:defRPr>
      </a:lvl5pPr>
      <a:lvl6pPr marL="2057400" indent="-34290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400300" indent="-34290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743200" indent="-342900" algn="l" defTabSz="342900" rtl="0" eaLnBrk="1" latinLnBrk="0" hangingPunct="1">
        <a:spcBef>
          <a:spcPct val="20000"/>
        </a:spcBef>
        <a:buFont typeface="Arial"/>
        <a:buChar char="•"/>
        <a:defRPr sz="1500" kern="1200">
          <a:solidFill>
            <a:schemeClr val="tx1"/>
          </a:solidFill>
          <a:latin typeface="+mn-lt"/>
          <a:ea typeface="+mn-ea"/>
          <a:cs typeface="+mn-cs"/>
        </a:defRPr>
      </a:lvl8pPr>
      <a:lvl9pPr marL="3086100" indent="-34290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Slide 1 — Title</a:t>
            </a:r>
          </a:p>
        </p:txBody>
      </p:sp>
      <p:sp>
        <p:nvSpPr>
          <p:cNvPr id="3" name="Content Placeholder 2"/>
          <p:cNvSpPr>
            <a:spLocks noGrp="1"/>
          </p:cNvSpPr>
          <p:nvPr>
            <p:ph idx="1"/>
          </p:nvPr>
        </p:nvSpPr>
        <p:spPr/>
        <p:txBody>
          <a:bodyPr>
            <a:normAutofit/>
          </a:bodyPr>
          <a:lstStyle/>
          <a:p>
            <a:pPr marL="0" lvl="0" indent="0">
              <a:buNone/>
            </a:pPr>
            <a:r>
              <a:rPr sz="1400" b="1" dirty="0"/>
              <a:t>Title:</a:t>
            </a:r>
            <a:br>
              <a:rPr sz="1400" dirty="0"/>
            </a:br>
            <a:r>
              <a:rPr sz="1400" dirty="0"/>
              <a:t>Scenario 5 — Small-Clinic Patient Intake</a:t>
            </a:r>
            <a:br>
              <a:rPr sz="1400" dirty="0"/>
            </a:br>
            <a:r>
              <a:rPr sz="1400" dirty="0"/>
              <a:t>Week 1 AI-Native Specification</a:t>
            </a:r>
          </a:p>
          <a:p>
            <a:pPr marL="0" lvl="0" indent="0">
              <a:buNone/>
            </a:pPr>
            <a:r>
              <a:rPr sz="1400" b="1" dirty="0"/>
              <a:t>Subtitle:</a:t>
            </a:r>
            <a:br>
              <a:rPr sz="1400" dirty="0"/>
            </a:br>
            <a:r>
              <a:rPr sz="1400" dirty="0"/>
              <a:t>Non-clinical intake coordination agent for a family medicine practice</a:t>
            </a:r>
          </a:p>
          <a:p>
            <a:pPr marL="0" lvl="0" indent="0">
              <a:buNone/>
            </a:pPr>
            <a:r>
              <a:rPr sz="1400" b="1" dirty="0"/>
              <a:t>Body:</a:t>
            </a:r>
            <a:br>
              <a:rPr sz="1400" dirty="0"/>
            </a:br>
            <a:r>
              <a:rPr sz="1400" dirty="0"/>
              <a:t>- 6 physicians</a:t>
            </a:r>
            <a:br>
              <a:rPr sz="1400" dirty="0"/>
            </a:br>
            <a:r>
              <a:rPr sz="1400" dirty="0"/>
              <a:t>- 2 locations</a:t>
            </a:r>
            <a:br>
              <a:rPr sz="1400" dirty="0"/>
            </a:br>
            <a:r>
              <a:rPr sz="1400" dirty="0"/>
              <a:t>- ~180 patients/day</a:t>
            </a:r>
            <a:br>
              <a:rPr sz="1400" dirty="0"/>
            </a:br>
            <a:r>
              <a:rPr sz="1400" dirty="0"/>
              <a:t>- 4-person front-desk team</a:t>
            </a:r>
            <a:br>
              <a:rPr sz="1400" dirty="0"/>
            </a:br>
            <a:r>
              <a:rPr sz="1400" dirty="0"/>
              <a:t>- Goal: improve intake completeness without delegating clinical judgment</a:t>
            </a:r>
          </a:p>
          <a:p>
            <a:pPr marL="0" lvl="0" indent="0">
              <a:buNone/>
            </a:pPr>
            <a:r>
              <a:rPr sz="1400" b="1" dirty="0"/>
              <a:t>Speaker Notes:</a:t>
            </a:r>
            <a:br>
              <a:rPr sz="1400" dirty="0"/>
            </a:br>
            <a:r>
              <a:rPr sz="1400" dirty="0"/>
              <a:t>This spec designs a patient intake coordination agent for a small family medicine practice. The key challenge is improving intake reliability at clinic scale while keeping all clinical judgment human-led.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Slide 2 — Problem and Objective</a:t>
            </a:r>
          </a:p>
        </p:txBody>
      </p:sp>
      <p:sp>
        <p:nvSpPr>
          <p:cNvPr id="3" name="Content Placeholder 2"/>
          <p:cNvSpPr>
            <a:spLocks noGrp="1"/>
          </p:cNvSpPr>
          <p:nvPr>
            <p:ph idx="1"/>
          </p:nvPr>
        </p:nvSpPr>
        <p:spPr/>
        <p:txBody>
          <a:bodyPr>
            <a:normAutofit/>
          </a:bodyPr>
          <a:lstStyle/>
          <a:p>
            <a:pPr marL="0" lvl="0" indent="0">
              <a:buNone/>
            </a:pPr>
            <a:r>
              <a:rPr sz="1200" b="1" dirty="0"/>
              <a:t>Title:</a:t>
            </a:r>
            <a:br>
              <a:rPr sz="1200" dirty="0"/>
            </a:br>
            <a:r>
              <a:rPr sz="1200" dirty="0"/>
              <a:t>Problem and Objective</a:t>
            </a:r>
          </a:p>
          <a:p>
            <a:pPr marL="0" lvl="0" indent="0">
              <a:buNone/>
            </a:pPr>
            <a:r>
              <a:rPr sz="1200" b="1" dirty="0"/>
              <a:t>Body:</a:t>
            </a:r>
            <a:br>
              <a:rPr sz="1200" dirty="0"/>
            </a:br>
            <a:r>
              <a:rPr sz="1200" dirty="0"/>
              <a:t>- Front desk must manage a complex intake workflow across ~180 daily visits</a:t>
            </a:r>
            <a:br>
              <a:rPr sz="1200" dirty="0"/>
            </a:br>
            <a:r>
              <a:rPr sz="1200" dirty="0"/>
              <a:t>- Required steps include: - insurance verification - prior-auth checks - questionnaires - medication updates - allergy-flag surfacing - reason-for-visit routing - Most common failures: - expired prior </a:t>
            </a:r>
            <a:r>
              <a:rPr sz="1200" dirty="0" err="1"/>
              <a:t>authorisations</a:t>
            </a:r>
            <a:r>
              <a:rPr sz="1200" dirty="0"/>
              <a:t> - unreviewed medication changes</a:t>
            </a:r>
          </a:p>
          <a:p>
            <a:pPr marL="0" lvl="0" indent="0">
              <a:buNone/>
            </a:pPr>
            <a:r>
              <a:rPr sz="1200" b="1" dirty="0"/>
              <a:t>Objective:</a:t>
            </a:r>
            <a:br>
              <a:rPr sz="1200" dirty="0"/>
            </a:br>
            <a:r>
              <a:rPr sz="1200" dirty="0"/>
              <a:t>Build an agentic workflow that automates non-clinical intake coordination, reduces admin burden, and improves readiness before visit start.</a:t>
            </a:r>
          </a:p>
          <a:p>
            <a:pPr marL="0" lvl="0" indent="0">
              <a:buNone/>
            </a:pPr>
            <a:r>
              <a:rPr sz="1200" b="1" dirty="0"/>
              <a:t>Speaker Notes:</a:t>
            </a:r>
            <a:br>
              <a:rPr sz="1200" dirty="0"/>
            </a:br>
            <a:r>
              <a:rPr sz="1200" dirty="0"/>
              <a:t>The main issue is not just manual effort. It is that missed intake steps create downstream disruption for physicians and patients. The design objective is to improve reliability without crossing into clinical interpretation.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Slide 3 — Safety Boundary and Success Metrics</a:t>
            </a:r>
          </a:p>
        </p:txBody>
      </p:sp>
      <p:sp>
        <p:nvSpPr>
          <p:cNvPr id="3" name="Content Placeholder 2"/>
          <p:cNvSpPr>
            <a:spLocks noGrp="1"/>
          </p:cNvSpPr>
          <p:nvPr>
            <p:ph idx="1"/>
          </p:nvPr>
        </p:nvSpPr>
        <p:spPr/>
        <p:txBody>
          <a:bodyPr>
            <a:normAutofit/>
          </a:bodyPr>
          <a:lstStyle/>
          <a:p>
            <a:pPr marL="0" lvl="0" indent="0">
              <a:buNone/>
            </a:pPr>
            <a:r>
              <a:rPr sz="1200" b="1" dirty="0"/>
              <a:t>Title:</a:t>
            </a:r>
            <a:br>
              <a:rPr sz="1200" dirty="0"/>
            </a:br>
            <a:r>
              <a:rPr sz="1200" dirty="0"/>
              <a:t>Safety Boundary and Success Metrics</a:t>
            </a:r>
          </a:p>
          <a:p>
            <a:pPr marL="0" lvl="0" indent="0">
              <a:buNone/>
            </a:pPr>
            <a:r>
              <a:rPr sz="1200" b="1" dirty="0"/>
              <a:t>Body:</a:t>
            </a:r>
            <a:br>
              <a:rPr sz="1200" dirty="0"/>
            </a:br>
            <a:r>
              <a:rPr sz="1200" b="1" dirty="0"/>
              <a:t>Hard Boundary</a:t>
            </a:r>
            <a:r>
              <a:rPr sz="1200" dirty="0"/>
              <a:t> - agent may collect, compare, route, flag, and log - agent must not diagnose, triage medically, or assess medication/allergy significance - urgent or ambiguous visit reasons must go to human review</a:t>
            </a:r>
          </a:p>
          <a:p>
            <a:pPr marL="0" lvl="0" indent="0">
              <a:buNone/>
            </a:pPr>
            <a:r>
              <a:rPr sz="1200" b="1" dirty="0"/>
              <a:t>Proposed Success Targets</a:t>
            </a:r>
            <a:r>
              <a:rPr sz="1200" dirty="0"/>
              <a:t> - &gt;=95% intake completeness before visit start - &gt;=50% reduction in missed prior-auth and medication-change defects - 30-40% reduction in front-desk handling time - &gt;=40% reduction in same-day disruption - 100% of urgent/ambiguous visit reasons routed to human review - 0 clinical-boundary violations</a:t>
            </a:r>
          </a:p>
          <a:p>
            <a:pPr marL="0" lvl="0" indent="0">
              <a:buNone/>
            </a:pPr>
            <a:r>
              <a:rPr sz="1200" b="1" dirty="0"/>
              <a:t>Speaker Notes:</a:t>
            </a:r>
            <a:br>
              <a:rPr sz="1200" dirty="0"/>
            </a:br>
            <a:r>
              <a:rPr sz="1200" dirty="0"/>
              <a:t>I treat these as proposed targets pending baseline validation. The hard boundary is the key constraint: the system must improve workflow without making clinical judgments.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Slide 4 — Delegation Analysis</a:t>
            </a:r>
          </a:p>
        </p:txBody>
      </p:sp>
      <p:sp>
        <p:nvSpPr>
          <p:cNvPr id="3" name="Content Placeholder 2"/>
          <p:cNvSpPr>
            <a:spLocks noGrp="1"/>
          </p:cNvSpPr>
          <p:nvPr>
            <p:ph idx="1"/>
          </p:nvPr>
        </p:nvSpPr>
        <p:spPr/>
        <p:txBody>
          <a:bodyPr>
            <a:normAutofit/>
          </a:bodyPr>
          <a:lstStyle/>
          <a:p>
            <a:pPr marL="0" lvl="0" indent="0">
              <a:buNone/>
            </a:pPr>
            <a:r>
              <a:rPr sz="1200" b="1" dirty="0"/>
              <a:t>Title:</a:t>
            </a:r>
            <a:br>
              <a:rPr sz="1200" dirty="0"/>
            </a:br>
            <a:r>
              <a:rPr sz="1200" dirty="0"/>
              <a:t>Delegation Analysis</a:t>
            </a:r>
          </a:p>
          <a:p>
            <a:pPr marL="0" lvl="0" indent="0">
              <a:buNone/>
            </a:pPr>
            <a:r>
              <a:rPr sz="1200" b="1" dirty="0"/>
              <a:t>Body:</a:t>
            </a:r>
            <a:br>
              <a:rPr sz="1200" dirty="0"/>
            </a:br>
            <a:r>
              <a:rPr sz="1200" b="1" dirty="0"/>
              <a:t>Agent Alone</a:t>
            </a:r>
            <a:r>
              <a:rPr sz="1200" dirty="0"/>
              <a:t> - appointment retrieval - intake work item creation - questionnaire sending and tracking - insurance verification - medication collection and list comparison - allergy retrieval</a:t>
            </a:r>
          </a:p>
          <a:p>
            <a:pPr marL="0" lvl="0" indent="0">
              <a:buNone/>
            </a:pPr>
            <a:r>
              <a:rPr sz="1200" b="1" dirty="0"/>
              <a:t>Agent + Human Review</a:t>
            </a:r>
            <a:r>
              <a:rPr sz="1200" dirty="0"/>
              <a:t> - prior-auth checks using explicit rules - medication discrepancy flagging - allergy-flag surfacing - visit-reason routing under narrow admin rules - escalation creation</a:t>
            </a:r>
          </a:p>
          <a:p>
            <a:pPr marL="0" lvl="0" indent="0">
              <a:buNone/>
            </a:pPr>
            <a:r>
              <a:rPr sz="1200" b="1" dirty="0"/>
              <a:t>Human Decides</a:t>
            </a:r>
            <a:r>
              <a:rPr sz="1200" dirty="0"/>
              <a:t> - medical urgency - medication significance - allergy significance - overrides for blocked/escalated cases</a:t>
            </a:r>
          </a:p>
          <a:p>
            <a:pPr marL="0" lvl="0" indent="0">
              <a:buNone/>
            </a:pPr>
            <a:r>
              <a:rPr sz="1200" b="1" dirty="0"/>
              <a:t>Speaker Notes:</a:t>
            </a:r>
            <a:br>
              <a:rPr sz="1200" dirty="0"/>
            </a:br>
            <a:r>
              <a:rPr sz="1200" dirty="0"/>
              <a:t>The “why” behind these choices is that structured, repetitive administrative work is safe to automate. Interpretation, ambiguity, and safety-sensitive decisions are not.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Slide 5 — Capability Specification</a:t>
            </a:r>
          </a:p>
        </p:txBody>
      </p:sp>
      <p:sp>
        <p:nvSpPr>
          <p:cNvPr id="3" name="Content Placeholder 2"/>
          <p:cNvSpPr>
            <a:spLocks noGrp="1"/>
          </p:cNvSpPr>
          <p:nvPr>
            <p:ph idx="1"/>
          </p:nvPr>
        </p:nvSpPr>
        <p:spPr/>
        <p:txBody>
          <a:bodyPr>
            <a:normAutofit/>
          </a:bodyPr>
          <a:lstStyle/>
          <a:p>
            <a:pPr marL="0" lvl="0" indent="0">
              <a:buNone/>
            </a:pPr>
            <a:r>
              <a:rPr sz="1200" b="1" dirty="0"/>
              <a:t>Title:</a:t>
            </a:r>
            <a:br>
              <a:rPr sz="1200" dirty="0"/>
            </a:br>
            <a:r>
              <a:rPr sz="1200" dirty="0"/>
              <a:t>Capability Specification</a:t>
            </a:r>
          </a:p>
          <a:p>
            <a:pPr marL="0" lvl="0" indent="0">
              <a:buNone/>
            </a:pPr>
            <a:r>
              <a:rPr sz="1200" b="1" dirty="0"/>
              <a:t>Body:</a:t>
            </a:r>
            <a:br>
              <a:rPr sz="1200" dirty="0"/>
            </a:br>
            <a:r>
              <a:rPr sz="1200" dirty="0"/>
              <a:t>The agent must: - create one intake work item per scheduled appointment - send and track questionnaires - verify insurance - check prior auth using explicit clinic rules - collect medication updates - compare patient-reported vs EHR medication data - retrieve allergy flags - route visit reasons under narrow admin rules - create escalations and assign queues - evaluate readiness for visit - log workflow actions and PHI access</a:t>
            </a:r>
          </a:p>
          <a:p>
            <a:pPr marL="0" lvl="0" indent="0">
              <a:buNone/>
            </a:pPr>
            <a:r>
              <a:rPr sz="1200" b="1" dirty="0"/>
              <a:t>Speaker Notes:</a:t>
            </a:r>
            <a:br>
              <a:rPr sz="1200" dirty="0"/>
            </a:br>
            <a:r>
              <a:rPr sz="1200" dirty="0"/>
              <a:t>This is the first-draft capability spec. It is intentionally concrete enough for an AI coding agent to start building from, while still staying within Week 1 scope.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Slide 6 — Core Rules and Integrations</a:t>
            </a:r>
          </a:p>
        </p:txBody>
      </p:sp>
      <p:sp>
        <p:nvSpPr>
          <p:cNvPr id="3" name="Content Placeholder 2"/>
          <p:cNvSpPr>
            <a:spLocks noGrp="1"/>
          </p:cNvSpPr>
          <p:nvPr>
            <p:ph idx="1"/>
          </p:nvPr>
        </p:nvSpPr>
        <p:spPr/>
        <p:txBody>
          <a:bodyPr>
            <a:normAutofit/>
          </a:bodyPr>
          <a:lstStyle/>
          <a:p>
            <a:pPr marL="0" lvl="0" indent="0">
              <a:buNone/>
            </a:pPr>
            <a:r>
              <a:rPr sz="1200" b="1" dirty="0"/>
              <a:t>Title:</a:t>
            </a:r>
            <a:br>
              <a:rPr sz="1200" dirty="0"/>
            </a:br>
            <a:r>
              <a:rPr sz="1200" dirty="0"/>
              <a:t>Core Rules and Integrations</a:t>
            </a:r>
          </a:p>
          <a:p>
            <a:pPr marL="0" lvl="0" indent="0">
              <a:buNone/>
            </a:pPr>
            <a:r>
              <a:rPr sz="1200" b="1" dirty="0"/>
              <a:t>Body:</a:t>
            </a:r>
            <a:br>
              <a:rPr sz="1200" dirty="0"/>
            </a:br>
            <a:r>
              <a:rPr sz="1200" b="1" dirty="0"/>
              <a:t>Core Rules</a:t>
            </a:r>
            <a:r>
              <a:rPr sz="1200" dirty="0"/>
              <a:t> - exactly one intake work item per appointment - questionnaire incomplete/missing -&gt; escalate to FRONT_DESK - insurance inactive/error/timeout -&gt; escalate to FRONT_DESK - prior auth missing/expired/undetermined -&gt; escalate to FRONT_DESK - medication change or mismatch -&gt; escalate to CLINICAL_STAFF - allergy flag present -&gt; escalate to CLINICAL_STAFF - urgent, blank, or ambiguous visit reason -&gt; escalate to CLINICAL_STAFF - READY_FOR_VISIT requires zero open escalations</a:t>
            </a:r>
          </a:p>
          <a:p>
            <a:pPr marL="0" lvl="0" indent="0">
              <a:buNone/>
            </a:pPr>
            <a:r>
              <a:rPr sz="1200" b="1" dirty="0"/>
              <a:t>Integrations</a:t>
            </a:r>
            <a:r>
              <a:rPr sz="1200" dirty="0"/>
              <a:t> - athenahealth - insurance eligibility tool - clinic-maintained prior-auth rule source</a:t>
            </a:r>
          </a:p>
          <a:p>
            <a:pPr marL="0" lvl="0" indent="0">
              <a:buNone/>
            </a:pPr>
            <a:r>
              <a:rPr sz="1200" b="1" dirty="0"/>
              <a:t>Speaker Notes:</a:t>
            </a:r>
            <a:br>
              <a:rPr sz="1200" dirty="0"/>
            </a:br>
            <a:r>
              <a:rPr sz="1200" dirty="0"/>
              <a:t>The integrations are named in the scenario, but their exact contracts are not. So the build should use configurable adapters and fail closed when required data is unavailable.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Slide 7 — Validation Design</a:t>
            </a:r>
          </a:p>
        </p:txBody>
      </p:sp>
      <p:sp>
        <p:nvSpPr>
          <p:cNvPr id="3" name="Content Placeholder 2"/>
          <p:cNvSpPr>
            <a:spLocks noGrp="1"/>
          </p:cNvSpPr>
          <p:nvPr>
            <p:ph idx="1"/>
          </p:nvPr>
        </p:nvSpPr>
        <p:spPr/>
        <p:txBody>
          <a:bodyPr>
            <a:normAutofit/>
          </a:bodyPr>
          <a:lstStyle/>
          <a:p>
            <a:pPr marL="0" lvl="0" indent="0">
              <a:buNone/>
            </a:pPr>
            <a:r>
              <a:rPr sz="1200" b="1" dirty="0"/>
              <a:t>Title:</a:t>
            </a:r>
            <a:br>
              <a:rPr sz="1200" dirty="0"/>
            </a:br>
            <a:r>
              <a:rPr sz="1200" dirty="0"/>
              <a:t>Validation Design</a:t>
            </a:r>
          </a:p>
          <a:p>
            <a:pPr marL="0" lvl="0" indent="0">
              <a:buNone/>
            </a:pPr>
            <a:r>
              <a:rPr sz="1200" b="1" dirty="0"/>
              <a:t>Body:</a:t>
            </a:r>
            <a:br>
              <a:rPr sz="1200" dirty="0"/>
            </a:br>
            <a:r>
              <a:rPr sz="1200" b="1" dirty="0"/>
              <a:t>Happy Path</a:t>
            </a:r>
            <a:r>
              <a:rPr sz="1200" dirty="0"/>
              <a:t> - routine visit - complete questionnaire - active insurance - no medication changes - no allergy flags - routine visit reason - result: READY_FOR_VISIT</a:t>
            </a:r>
          </a:p>
          <a:p>
            <a:pPr marL="0" lvl="0" indent="0">
              <a:buNone/>
            </a:pPr>
            <a:r>
              <a:rPr sz="1200" b="1" dirty="0"/>
              <a:t>Edge Case</a:t>
            </a:r>
            <a:r>
              <a:rPr sz="1200" dirty="0"/>
              <a:t> - incomplete questionnaire - result: escalate to FRONT_DESK and hold</a:t>
            </a:r>
          </a:p>
          <a:p>
            <a:pPr marL="0" lvl="0" indent="0">
              <a:buNone/>
            </a:pPr>
            <a:r>
              <a:rPr sz="1200" b="1" dirty="0"/>
              <a:t>Failure Mode</a:t>
            </a:r>
            <a:r>
              <a:rPr sz="1200" dirty="0"/>
              <a:t> - insurance timeout - result: no guessed result, escalate, hold/block</a:t>
            </a:r>
          </a:p>
          <a:p>
            <a:pPr marL="0" lvl="0" indent="0">
              <a:buNone/>
            </a:pPr>
            <a:r>
              <a:rPr sz="1200" b="1" dirty="0"/>
              <a:t>Boundary Test</a:t>
            </a:r>
            <a:r>
              <a:rPr sz="1200" dirty="0"/>
              <a:t> - visit reason: “chest pain since last night” - result: escalate to CLINICAL_STAFF - no triage advice or urgency classification</a:t>
            </a:r>
          </a:p>
          <a:p>
            <a:pPr marL="0" lvl="0" indent="0">
              <a:buNone/>
            </a:pPr>
            <a:r>
              <a:rPr sz="1200" b="1" dirty="0"/>
              <a:t>Speaker Notes:</a:t>
            </a:r>
            <a:br>
              <a:rPr sz="1200" dirty="0"/>
            </a:br>
            <a:r>
              <a:rPr sz="1200" dirty="0"/>
              <a:t>The boundary test is especially important. It proves the system does not cross into clinical judgment even when patient text strongly suggests urgency.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0" lvl="0" indent="0">
              <a:buNone/>
            </a:pPr>
            <a:r>
              <a:rPr sz="2800" dirty="0"/>
              <a:t>Slide 8 — Assumptions, Risks, and Next Steps</a:t>
            </a:r>
          </a:p>
        </p:txBody>
      </p:sp>
      <p:sp>
        <p:nvSpPr>
          <p:cNvPr id="3" name="Content Placeholder 2"/>
          <p:cNvSpPr>
            <a:spLocks noGrp="1"/>
          </p:cNvSpPr>
          <p:nvPr>
            <p:ph idx="1"/>
          </p:nvPr>
        </p:nvSpPr>
        <p:spPr/>
        <p:txBody>
          <a:bodyPr>
            <a:noAutofit/>
          </a:bodyPr>
          <a:lstStyle/>
          <a:p>
            <a:pPr marL="0" lvl="0" indent="0">
              <a:buNone/>
            </a:pPr>
            <a:r>
              <a:rPr sz="1200" b="1" dirty="0"/>
              <a:t>Title:</a:t>
            </a:r>
            <a:br>
              <a:rPr sz="1200" dirty="0"/>
            </a:br>
            <a:r>
              <a:rPr sz="1200" dirty="0"/>
              <a:t>Assumptions, Risks, and Next Steps</a:t>
            </a:r>
          </a:p>
          <a:p>
            <a:pPr marL="0" lvl="0" indent="0">
              <a:buNone/>
            </a:pPr>
            <a:r>
              <a:rPr sz="1200" b="1" dirty="0"/>
              <a:t>Body:</a:t>
            </a:r>
            <a:br>
              <a:rPr sz="1200" dirty="0"/>
            </a:br>
            <a:r>
              <a:rPr sz="1200" b="1" dirty="0"/>
              <a:t>Key Assumptions</a:t>
            </a:r>
            <a:r>
              <a:rPr sz="1200" dirty="0"/>
              <a:t> - athenahealth is machine-accessible - insurance tool supports machine-driven verification - prior-auth rules exist in structured form - digital intake channels are available - human ownership exists for safety-sensitive escalations</a:t>
            </a:r>
          </a:p>
          <a:p>
            <a:pPr marL="0" lvl="0" indent="0">
              <a:buNone/>
            </a:pPr>
            <a:r>
              <a:rPr sz="1200" b="1" dirty="0"/>
              <a:t>Biggest Risks</a:t>
            </a:r>
            <a:r>
              <a:rPr sz="1200" dirty="0"/>
              <a:t> - unknown integration details - unclear queue ownership - unstructured prior-auth logic - compliance/retention specifics not yet validated</a:t>
            </a:r>
          </a:p>
          <a:p>
            <a:pPr marL="0" lvl="0" indent="0">
              <a:buNone/>
            </a:pPr>
            <a:r>
              <a:rPr sz="1200" b="1" dirty="0"/>
              <a:t>Next Steps</a:t>
            </a:r>
            <a:r>
              <a:rPr sz="1200" dirty="0"/>
              <a:t> - validate assumptions with stakeholders - confirm routing rules and trigger phrases - confirm compliance and storage model - move into Claude build loop using the implementation brief</a:t>
            </a:r>
          </a:p>
          <a:p>
            <a:pPr marL="0" lvl="0" indent="0">
              <a:buNone/>
            </a:pPr>
            <a:r>
              <a:rPr sz="1200" b="1" dirty="0"/>
              <a:t>Speaker Notes:</a:t>
            </a:r>
            <a:br>
              <a:rPr sz="1200" dirty="0"/>
            </a:br>
            <a:r>
              <a:rPr sz="1200" dirty="0"/>
              <a:t>The main tradeoff is deliberate: safer escalation over maximum automation. The next step is to validate the unknowns before treating this as production-ready.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1040</Words>
  <Application>Microsoft Office PowerPoint</Application>
  <PresentationFormat>On-screen Show (16:9)</PresentationFormat>
  <Paragraphs>43</Paragraphs>
  <Slides>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 — Title</vt:lpstr>
      <vt:lpstr>Slide 2 — Problem and Objective</vt:lpstr>
      <vt:lpstr>Slide 3 — Safety Boundary and Success Metrics</vt:lpstr>
      <vt:lpstr>Slide 4 — Delegation Analysis</vt:lpstr>
      <vt:lpstr>Slide 5 — Capability Specification</vt:lpstr>
      <vt:lpstr>Slide 6 — Core Rules and Integrations</vt:lpstr>
      <vt:lpstr>Slide 7 — Validation Design</vt:lpstr>
      <vt:lpstr>Slide 8 — Assumptions, Risks, and Next Steps</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Nadia Rahmatulla</dc:creator>
  <cp:keywords/>
  <cp:lastModifiedBy>Nadia Rahmatulla</cp:lastModifiedBy>
  <cp:revision>1</cp:revision>
  <dcterms:created xsi:type="dcterms:W3CDTF">2026-04-21T17:42:40Z</dcterms:created>
  <dcterms:modified xsi:type="dcterms:W3CDTF">2026-04-21T17:47:01Z</dcterms:modified>
</cp:coreProperties>
</file>