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9" r:id="rId3"/>
    <p:sldId id="260" r:id="rId4"/>
    <p:sldId id="261" r:id="rId5"/>
    <p:sldId id="262" r:id="rId6"/>
    <p:sldId id="263" r:id="rId7"/>
    <p:sldId id="264" r:id="rId8"/>
    <p:sldId id="265"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38" d="100"/>
          <a:sy n="138" d="100"/>
        </p:scale>
        <p:origin x="834" y="12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4/21/2026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1 — Title</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Scenario 5 — Small-Clinic Patient Intake</a:t>
            </a:r>
          </a:p>
          <a:p>
            <a:pPr marL="0" lvl="0" indent="0">
              <a:buNone/>
            </a:pPr>
            <a:r>
              <a:rPr sz="1200" b="1" dirty="0"/>
              <a:t>Subtitle:</a:t>
            </a:r>
            <a:br>
              <a:rPr sz="1200" dirty="0"/>
            </a:br>
            <a:r>
              <a:rPr sz="1200" dirty="0"/>
              <a:t>Week 1 AI-Native Specification</a:t>
            </a:r>
          </a:p>
          <a:p>
            <a:pPr marL="0" lvl="0" indent="0">
              <a:buNone/>
            </a:pPr>
            <a:r>
              <a:rPr sz="1200" b="1" dirty="0"/>
              <a:t>Body:</a:t>
            </a:r>
            <a:br>
              <a:rPr sz="1200" dirty="0"/>
            </a:br>
            <a:r>
              <a:rPr sz="1200" dirty="0"/>
              <a:t>- 6 physicians</a:t>
            </a:r>
            <a:br>
              <a:rPr sz="1200" dirty="0"/>
            </a:br>
            <a:r>
              <a:rPr sz="1200" dirty="0"/>
              <a:t>- 2 locations</a:t>
            </a:r>
            <a:br>
              <a:rPr sz="1200" dirty="0"/>
            </a:br>
            <a:r>
              <a:rPr sz="1200" dirty="0"/>
              <a:t>- ~180 patients/day</a:t>
            </a:r>
            <a:br>
              <a:rPr sz="1200" dirty="0"/>
            </a:br>
            <a:r>
              <a:rPr sz="1200" dirty="0"/>
              <a:t>- 4-person front-desk team</a:t>
            </a:r>
          </a:p>
          <a:p>
            <a:pPr marL="0" lvl="0" indent="0">
              <a:buNone/>
            </a:pPr>
            <a:r>
              <a:rPr sz="1200" b="1" dirty="0"/>
              <a:t>Footer:</a:t>
            </a:r>
            <a:br>
              <a:rPr sz="1200" dirty="0"/>
            </a:br>
            <a:r>
              <a:rPr sz="1200" dirty="0"/>
              <a:t>Goal: improve intake readiness without delegating clinical judgment</a:t>
            </a:r>
          </a:p>
          <a:p>
            <a:pPr marL="0" lvl="0" indent="0">
              <a:buNone/>
            </a:pPr>
            <a:r>
              <a:rPr sz="1200" b="1" dirty="0"/>
              <a:t>Speaker Notes:</a:t>
            </a:r>
            <a:br>
              <a:rPr sz="1200" dirty="0"/>
            </a:br>
            <a:r>
              <a:rPr sz="1200" dirty="0"/>
              <a:t>This specification is for a small family medicine practice managing high daily volume with a limited front-desk team. The design goal is to improve intake readiness while keeping all clinical judgment human-led.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2 — The Problem</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The Clinic Has an Intake Reliability Problem</a:t>
            </a:r>
          </a:p>
          <a:p>
            <a:pPr marL="0" lvl="0" indent="0">
              <a:buNone/>
            </a:pPr>
            <a:r>
              <a:rPr sz="1200" b="1" dirty="0"/>
              <a:t>Body:</a:t>
            </a:r>
            <a:br>
              <a:rPr sz="1200" dirty="0"/>
            </a:br>
            <a:r>
              <a:rPr sz="1200" b="1" dirty="0"/>
              <a:t>Current state</a:t>
            </a:r>
            <a:r>
              <a:rPr sz="1200" dirty="0"/>
              <a:t> - Front desk manages a complex intake workflow across ~180 visits/day - Physicians often start visits with incomplete intake information</a:t>
            </a:r>
          </a:p>
          <a:p>
            <a:pPr marL="0" lvl="0" indent="0">
              <a:buNone/>
            </a:pPr>
            <a:r>
              <a:rPr sz="1200" b="1" dirty="0"/>
              <a:t>Most common failures</a:t>
            </a:r>
            <a:r>
              <a:rPr sz="1200" dirty="0"/>
              <a:t> - expired prior </a:t>
            </a:r>
            <a:r>
              <a:rPr sz="1200" dirty="0" err="1"/>
              <a:t>authorisations</a:t>
            </a:r>
            <a:r>
              <a:rPr sz="1200" dirty="0"/>
              <a:t> - unreviewed medication changes</a:t>
            </a:r>
          </a:p>
          <a:p>
            <a:pPr marL="0" lvl="0" indent="0">
              <a:buNone/>
            </a:pPr>
            <a:r>
              <a:rPr sz="1200" b="1" dirty="0"/>
              <a:t>Impact</a:t>
            </a:r>
            <a:r>
              <a:rPr sz="1200" dirty="0"/>
              <a:t> - delays - rework - poor visit readiness</a:t>
            </a:r>
          </a:p>
          <a:p>
            <a:pPr marL="0" lvl="0" indent="0">
              <a:buNone/>
            </a:pPr>
            <a:r>
              <a:rPr sz="1200" b="1" dirty="0"/>
              <a:t>Speaker Notes:</a:t>
            </a:r>
            <a:br>
              <a:rPr sz="1200" dirty="0"/>
            </a:br>
            <a:r>
              <a:rPr sz="1200" dirty="0"/>
              <a:t>The problem is not just administrative workload. It is that intake failures are surfacing too late, at the point of care, which creates disruption for clinicians, staff, and patients.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3 — Design Objective</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Automate Administration, Not Clinical Judgment</a:t>
            </a:r>
          </a:p>
          <a:p>
            <a:pPr marL="0" lvl="0" indent="0">
              <a:buNone/>
            </a:pPr>
            <a:r>
              <a:rPr sz="1200" b="1" dirty="0"/>
              <a:t>Body:</a:t>
            </a:r>
            <a:br>
              <a:rPr sz="1200" dirty="0"/>
            </a:br>
            <a:r>
              <a:rPr sz="1200" b="1" dirty="0"/>
              <a:t>The agent should</a:t>
            </a:r>
            <a:r>
              <a:rPr sz="1200" dirty="0"/>
              <a:t> - collect information - check completeness - verify statuses - route and escalate issues - log actions</a:t>
            </a:r>
          </a:p>
          <a:p>
            <a:pPr marL="0" lvl="0" indent="0">
              <a:buNone/>
            </a:pPr>
            <a:r>
              <a:rPr sz="1200" b="1" dirty="0"/>
              <a:t>The agent should not</a:t>
            </a:r>
            <a:r>
              <a:rPr sz="1200" dirty="0"/>
              <a:t> - diagnose - triage medically - judge medication significance - judge allergy significance - determine medical urgency</a:t>
            </a:r>
          </a:p>
          <a:p>
            <a:pPr marL="0" lvl="0" indent="0">
              <a:buNone/>
            </a:pPr>
            <a:r>
              <a:rPr sz="1200" b="1" dirty="0"/>
              <a:t>Speaker Notes:</a:t>
            </a:r>
            <a:br>
              <a:rPr sz="1200" dirty="0"/>
            </a:br>
            <a:r>
              <a:rPr sz="1200" dirty="0"/>
              <a:t>This is the core design boundary. The solution is intentionally non-clinical. The system supports workflow readiness, but all clinical interpretation remains with humans.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4 — Success Looks Like</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Proposed Success Targets</a:t>
            </a:r>
          </a:p>
          <a:p>
            <a:pPr marL="0" lvl="0" indent="0">
              <a:buNone/>
            </a:pPr>
            <a:r>
              <a:rPr sz="1200" b="1" dirty="0"/>
              <a:t>Body:</a:t>
            </a:r>
            <a:br>
              <a:rPr sz="1200" dirty="0"/>
            </a:br>
            <a:r>
              <a:rPr sz="1200" dirty="0"/>
              <a:t>- </a:t>
            </a:r>
            <a:r>
              <a:rPr sz="1200" b="1" dirty="0"/>
              <a:t>&gt;=95%</a:t>
            </a:r>
            <a:r>
              <a:rPr sz="1200" dirty="0"/>
              <a:t> intake completeness before visit start</a:t>
            </a:r>
            <a:br>
              <a:rPr sz="1200" dirty="0"/>
            </a:br>
            <a:r>
              <a:rPr sz="1200" dirty="0"/>
              <a:t>- </a:t>
            </a:r>
            <a:r>
              <a:rPr sz="1200" b="1" dirty="0"/>
              <a:t>&gt;=50%</a:t>
            </a:r>
            <a:r>
              <a:rPr sz="1200" dirty="0"/>
              <a:t> reduction in missed prior-auth and medication-change defects</a:t>
            </a:r>
            <a:br>
              <a:rPr sz="1200" dirty="0"/>
            </a:br>
            <a:r>
              <a:rPr sz="1200" dirty="0"/>
              <a:t>- </a:t>
            </a:r>
            <a:r>
              <a:rPr sz="1200" b="1" dirty="0"/>
              <a:t>30-40%</a:t>
            </a:r>
            <a:r>
              <a:rPr sz="1200" dirty="0"/>
              <a:t> reduction in front-desk handling time</a:t>
            </a:r>
            <a:br>
              <a:rPr sz="1200" dirty="0"/>
            </a:br>
            <a:r>
              <a:rPr sz="1200" dirty="0"/>
              <a:t>- </a:t>
            </a:r>
            <a:r>
              <a:rPr sz="1200" b="1" dirty="0"/>
              <a:t>&gt;=40%</a:t>
            </a:r>
            <a:r>
              <a:rPr sz="1200" dirty="0"/>
              <a:t> reduction in same-day disruption</a:t>
            </a:r>
            <a:br>
              <a:rPr sz="1200" dirty="0"/>
            </a:br>
            <a:r>
              <a:rPr sz="1200" dirty="0"/>
              <a:t>- </a:t>
            </a:r>
            <a:r>
              <a:rPr sz="1200" b="1" dirty="0"/>
              <a:t>100%</a:t>
            </a:r>
            <a:r>
              <a:rPr sz="1200" dirty="0"/>
              <a:t> of urgent or ambiguous visit reasons routed to human review</a:t>
            </a:r>
            <a:br>
              <a:rPr sz="1200" dirty="0"/>
            </a:br>
            <a:r>
              <a:rPr sz="1200" dirty="0"/>
              <a:t>- </a:t>
            </a:r>
            <a:r>
              <a:rPr sz="1200" b="1" dirty="0"/>
              <a:t>0</a:t>
            </a:r>
            <a:r>
              <a:rPr sz="1200" dirty="0"/>
              <a:t> clinical-boundary violations</a:t>
            </a:r>
          </a:p>
          <a:p>
            <a:pPr marL="0" lvl="0" indent="0">
              <a:buNone/>
            </a:pPr>
            <a:r>
              <a:rPr sz="1200" b="1" dirty="0"/>
              <a:t>Footer:</a:t>
            </a:r>
            <a:br>
              <a:rPr sz="1200" dirty="0"/>
            </a:br>
            <a:r>
              <a:rPr sz="1200" dirty="0"/>
              <a:t>All targets are proposed targets pending baseline validation</a:t>
            </a:r>
          </a:p>
          <a:p>
            <a:pPr marL="0" lvl="0" indent="0">
              <a:buNone/>
            </a:pPr>
            <a:r>
              <a:rPr sz="1200" b="1" dirty="0"/>
              <a:t>Speaker Notes:</a:t>
            </a:r>
            <a:br>
              <a:rPr sz="1200" dirty="0"/>
            </a:br>
            <a:r>
              <a:rPr sz="1200" dirty="0"/>
              <a:t>These are design targets, not claimed baseline improvements. I am being explicit that the scenario gives us scale and failure points, but not current-state performance baselines.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5 — Delegation Model</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What the Agent Does vs. What Humans Keep</a:t>
            </a:r>
          </a:p>
          <a:p>
            <a:pPr marL="0" lvl="0" indent="0">
              <a:buNone/>
            </a:pPr>
            <a:r>
              <a:rPr sz="1200" b="1" dirty="0"/>
              <a:t>Body:</a:t>
            </a:r>
            <a:br>
              <a:rPr sz="1200" dirty="0"/>
            </a:br>
            <a:r>
              <a:rPr sz="1200" b="1" dirty="0"/>
              <a:t>Fully agentic</a:t>
            </a:r>
            <a:r>
              <a:rPr sz="1200" dirty="0"/>
              <a:t> - appointment retrieval - intake work item creation - questionnaires - insurance verification - medication comparison - allergy retrieval</a:t>
            </a:r>
          </a:p>
          <a:p>
            <a:pPr marL="0" lvl="0" indent="0">
              <a:buNone/>
            </a:pPr>
            <a:r>
              <a:rPr sz="1200" b="1" dirty="0"/>
              <a:t>Agent-led with review</a:t>
            </a:r>
            <a:r>
              <a:rPr sz="1200" dirty="0"/>
              <a:t> - prior-auth checks using explicit rules - discrepancy flagging - visit-reason routing - escalation handling</a:t>
            </a:r>
          </a:p>
          <a:p>
            <a:pPr marL="0" lvl="0" indent="0">
              <a:buNone/>
            </a:pPr>
            <a:r>
              <a:rPr sz="1200" b="1" dirty="0"/>
              <a:t>Human-led</a:t>
            </a:r>
            <a:r>
              <a:rPr sz="1200" dirty="0"/>
              <a:t> - urgency decisions - medication significance - allergy significance - overrides</a:t>
            </a:r>
          </a:p>
          <a:p>
            <a:pPr marL="0" lvl="0" indent="0">
              <a:buNone/>
            </a:pPr>
            <a:r>
              <a:rPr sz="1200" b="1" dirty="0"/>
              <a:t>Speaker Notes:</a:t>
            </a:r>
            <a:br>
              <a:rPr sz="1200" dirty="0"/>
            </a:br>
            <a:r>
              <a:rPr sz="1200" dirty="0"/>
              <a:t>The “why” behind this model is that repetitive, rule-based administrative work is safe to automate. Ambiguous, safety-sensitive, or clinically meaningful interpretation is not.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6 — What the System Must Do</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Core Capability</a:t>
            </a:r>
          </a:p>
          <a:p>
            <a:pPr marL="0" lvl="0" indent="0">
              <a:buNone/>
            </a:pPr>
            <a:r>
              <a:rPr sz="1200" b="1" dirty="0"/>
              <a:t>Body:</a:t>
            </a:r>
            <a:br>
              <a:rPr sz="1200" dirty="0"/>
            </a:br>
            <a:r>
              <a:rPr sz="1200" dirty="0"/>
              <a:t>The system must: - create one intake record per scheduled appointment - send and track questionnaires - verify insurance - check prior auth using explicit rules - detect medication changes and mismatches - surface allergy flags - route visit reasons safely - escalate unresolved issues - decide if a visit is administratively ready - log all PHI access and workflow actions</a:t>
            </a:r>
          </a:p>
          <a:p>
            <a:pPr marL="0" lvl="0" indent="0">
              <a:buNone/>
            </a:pPr>
            <a:r>
              <a:rPr sz="1200" b="1" dirty="0"/>
              <a:t>Speaker Notes:</a:t>
            </a:r>
            <a:br>
              <a:rPr sz="1200" dirty="0"/>
            </a:br>
            <a:r>
              <a:rPr sz="1200" dirty="0"/>
              <a:t>This is the minimum capability set needed for the agent to improve intake reliability in a buildable way.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7 — Proof It Is Safe</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Validation Focus</a:t>
            </a:r>
          </a:p>
          <a:p>
            <a:pPr marL="0" lvl="0" indent="0">
              <a:buNone/>
            </a:pPr>
            <a:r>
              <a:rPr sz="1200" b="1" dirty="0"/>
              <a:t>Body:</a:t>
            </a:r>
            <a:br>
              <a:rPr sz="1200" dirty="0"/>
            </a:br>
            <a:r>
              <a:rPr sz="1200" b="1" dirty="0"/>
              <a:t>Happy path</a:t>
            </a:r>
            <a:r>
              <a:rPr sz="1200" dirty="0"/>
              <a:t> - routine visit -&gt; </a:t>
            </a:r>
            <a:r>
              <a:rPr sz="1200" dirty="0">
                <a:latin typeface="Courier"/>
              </a:rPr>
              <a:t>READY_FOR_VISIT</a:t>
            </a:r>
          </a:p>
          <a:p>
            <a:pPr marL="0" lvl="0" indent="0">
              <a:buNone/>
            </a:pPr>
            <a:r>
              <a:rPr sz="1200" b="1" dirty="0"/>
              <a:t>Edge case</a:t>
            </a:r>
            <a:r>
              <a:rPr sz="1200" dirty="0"/>
              <a:t> - incomplete questionnaire -&gt; escalate to front desk</a:t>
            </a:r>
          </a:p>
          <a:p>
            <a:pPr marL="0" lvl="0" indent="0">
              <a:buNone/>
            </a:pPr>
            <a:r>
              <a:rPr sz="1200" b="1" dirty="0"/>
              <a:t>Failure mode</a:t>
            </a:r>
            <a:r>
              <a:rPr sz="1200" dirty="0"/>
              <a:t> - insurance timeout -&gt; hold/block, no guessed success</a:t>
            </a:r>
          </a:p>
          <a:p>
            <a:pPr marL="0" lvl="0" indent="0">
              <a:buNone/>
            </a:pPr>
            <a:r>
              <a:rPr sz="1200" b="1" dirty="0"/>
              <a:t>Boundary test</a:t>
            </a:r>
            <a:r>
              <a:rPr sz="1200" dirty="0"/>
              <a:t> - “chest pain since last night” -&gt; escalate to clinical staff - no triage advice - no urgency classification</a:t>
            </a:r>
          </a:p>
          <a:p>
            <a:pPr marL="0" lvl="0" indent="0">
              <a:buNone/>
            </a:pPr>
            <a:r>
              <a:rPr sz="1200" b="1" dirty="0"/>
              <a:t>Speaker Notes:</a:t>
            </a:r>
            <a:br>
              <a:rPr sz="1200" dirty="0"/>
            </a:br>
            <a:r>
              <a:rPr sz="1200" dirty="0"/>
              <a:t>The boundary test is critical. The system must prove that it escalates urgent-looking cases without trying to behave like a clinician.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8 — Risks and Next Steps</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What Must Be Validated Before Build</a:t>
            </a:r>
          </a:p>
          <a:p>
            <a:pPr marL="0" lvl="0" indent="0">
              <a:buNone/>
            </a:pPr>
            <a:r>
              <a:rPr sz="1200" b="1" dirty="0"/>
              <a:t>Body:</a:t>
            </a:r>
            <a:br>
              <a:rPr sz="1200" dirty="0"/>
            </a:br>
            <a:r>
              <a:rPr sz="1200" b="1" dirty="0"/>
              <a:t>Key unknowns</a:t>
            </a:r>
            <a:r>
              <a:rPr sz="1200" dirty="0"/>
              <a:t> - athenahealth integration details - insurance tool interface - prior-auth rule source - digital intake channel availability - ownership of safety-sensitive review queues - compliance and retention requirements</a:t>
            </a:r>
          </a:p>
          <a:p>
            <a:pPr marL="0" lvl="0" indent="0">
              <a:buNone/>
            </a:pPr>
            <a:r>
              <a:rPr sz="1200" b="1" dirty="0"/>
              <a:t>Next steps</a:t>
            </a:r>
            <a:r>
              <a:rPr sz="1200" dirty="0"/>
              <a:t> - validate assumptions with stakeholders - confirm routing rules and trigger phrases - confirm storage/compliance model - move into Claude build loop</a:t>
            </a:r>
          </a:p>
          <a:p>
            <a:pPr marL="0" lvl="0" indent="0">
              <a:buNone/>
            </a:pPr>
            <a:r>
              <a:rPr sz="1200" b="1" dirty="0"/>
              <a:t>Speaker Notes:</a:t>
            </a:r>
            <a:br>
              <a:rPr sz="1200" dirty="0"/>
            </a:br>
            <a:r>
              <a:rPr sz="1200" dirty="0"/>
              <a:t>The main risk is not the workflow concept itself. It is whether the clinic’s systems, rules, and operating model are explicit enough to support safe automation. Those unknowns should be validated before production build.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825</Words>
  <Application>Microsoft Office PowerPoint</Application>
  <PresentationFormat>On-screen Show (16:9)</PresentationFormat>
  <Paragraphs>44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Courier</vt:lpstr>
      <vt:lpstr>Office Theme</vt:lpstr>
      <vt:lpstr>Slide 1 — Title</vt:lpstr>
      <vt:lpstr>Slide 2 — The Problem</vt:lpstr>
      <vt:lpstr>Slide 3 — Design Objective</vt:lpstr>
      <vt:lpstr>Slide 4 — Success Looks Like</vt:lpstr>
      <vt:lpstr>Slide 5 — Delegation Model</vt:lpstr>
      <vt:lpstr>Slide 6 — What the System Must Do</vt:lpstr>
      <vt:lpstr>Slide 7 — Proof It Is Safe</vt:lpstr>
      <vt:lpstr>Slide 8 — Risks and Next Steps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Nadia Rahmatulla</dc:creator>
  <cp:keywords/>
  <cp:lastModifiedBy>Nadia Rahmatulla</cp:lastModifiedBy>
  <cp:revision>1</cp:revision>
  <dcterms:created xsi:type="dcterms:W3CDTF">2026-04-21T17:49:09Z</dcterms:created>
  <dcterms:modified xsi:type="dcterms:W3CDTF">2026-04-21T18:00:53Z</dcterms:modified>
</cp:coreProperties>
</file>